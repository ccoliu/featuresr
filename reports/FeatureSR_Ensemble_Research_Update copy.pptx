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Gain over Baseline (Δ%)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Feature-SR Gain (Δ%)</c:v>
                </c:pt>
              </c:strCache>
            </c:strRef>
          </c:tx>
          <c:spPr>
            <a:solidFill>
              <a:srgbClr val="C1652F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Average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1.37</c:v>
                </c:pt>
                <c:pt idx="1">
                  <c:v>0.93</c:v>
                </c:pt>
                <c:pt idx="2">
                  <c:v>1.76</c:v>
                </c:pt>
                <c:pt idx="3">
                  <c:v>0.03</c:v>
                </c:pt>
                <c:pt idx="4">
                  <c:v>1.02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C7D9E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Change over Baseline (Δ%)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Post-hoc (mismatched)</c:v>
                </c:pt>
              </c:strCache>
            </c:strRef>
          </c:tx>
          <c:spPr>
            <a:solidFill>
              <a:srgbClr val="A23B33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Average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-6.03</c:v>
                </c:pt>
                <c:pt idx="1">
                  <c:v>-4.99</c:v>
                </c:pt>
                <c:pt idx="2">
                  <c:v>-18.61</c:v>
                </c:pt>
                <c:pt idx="3">
                  <c:v>-1.6</c:v>
                </c:pt>
                <c:pt idx="4">
                  <c:v>-7.81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Ensemble-aware (fixed)</c:v>
                </c:pt>
              </c:strCache>
            </c:strRef>
          </c:tx>
          <c:spPr>
            <a:solidFill>
              <a:srgbClr val="0E8A66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Average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3.64</c:v>
                </c:pt>
                <c:pt idx="1">
                  <c:v>0.54</c:v>
                </c:pt>
                <c:pt idx="2">
                  <c:v>0.73</c:v>
                </c:pt>
                <c:pt idx="3">
                  <c:v>-0.09</c:v>
                </c:pt>
                <c:pt idx="4">
                  <c:v>1.21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C7D9E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Total Gain over Baseline (Δ%)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Ensemble-only</c:v>
                </c:pt>
              </c:strCache>
            </c:strRef>
          </c:tx>
          <c:spPr>
            <a:solidFill>
              <a:srgbClr val="0E8A66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Average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3.64</c:v>
                </c:pt>
                <c:pt idx="1">
                  <c:v>0.54</c:v>
                </c:pt>
                <c:pt idx="2">
                  <c:v>0.73</c:v>
                </c:pt>
                <c:pt idx="3">
                  <c:v>-0.09</c:v>
                </c:pt>
                <c:pt idx="4">
                  <c:v>1.21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Feature-SR</c:v>
                </c:pt>
              </c:strCache>
            </c:strRef>
          </c:tx>
          <c:spPr>
            <a:solidFill>
              <a:srgbClr val="C1652F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Average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4.37</c:v>
                </c:pt>
                <c:pt idx="1">
                  <c:v>0.94</c:v>
                </c:pt>
                <c:pt idx="2">
                  <c:v>1.01</c:v>
                </c:pt>
                <c:pt idx="3">
                  <c:v>0.08</c:v>
                </c:pt>
                <c:pt idx="4">
                  <c:v>1.6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C7D9E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18288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08A4D"/>
                </a:solidFill>
                <a:latin typeface="Arial"/>
              </a:rPr>
              <a:t>CC-CDFSL Research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Feature-SR × Prompt Ensemble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Stacking Gains in Cross-Domain Few-Shot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3BBCB"/>
                </a:solidFill>
                <a:latin typeface="Arial"/>
              </a:rPr>
              <a:t>Feature-level super-resolution and text-side prompt ensembling: independent validation, a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3BBCB"/>
                </a:solidFill>
                <a:latin typeface="Arial"/>
              </a:rPr>
              <a:t>train/inference mismatch diagnosis and fix, and the combined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8A9C"/>
                </a:solidFill>
                <a:latin typeface="Arial"/>
              </a:rPr>
              <a:t>CLIP ViT-B/16 · LoRA · Strict 5-way 5-shot · EuroSAT / CropDiseases / ISIC2018 / ChestX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1722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E8A9C"/>
                </a:solidFill>
                <a:latin typeface="Arial"/>
              </a:rPr>
              <a:t>2026.08.26 – 08.31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What We're Doing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Topic: Cross-Domain Few-Shot Learning (CDFSL)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Train on a source domain (miniImageNet), transfer to 4 visually distant target domains using only 5 images per class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Base framework: CC-CDFSL (CVPR 2026) — cycle-consistent vision-language alignment for fine-grained local features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Two cycle paths: T-I-T (Text-Image-Text) and I-T-I (Image-Text-Image)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Our core contribution: Feature-SR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Upsamples CLIP ViT's 14×14 patch tokens to 28×28, increasing spatial granularity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Super-resolution for machine perception, not human perception — it serves the downstream classifier, not visual quality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This phase's task: verify whether Feature-SR can be stacked with a second enhancement (Prompt Ensemble)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285232" cy="43434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Four Target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EuroSAT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24327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Satellite / remote-sensing imagery · 10 land-cover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CropDiseases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538727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Crop leaf disease imagery · 38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ISIC 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531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Dermoscopy lesion imagery · 7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074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ChestX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675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Chest X-ray images · 7 classes (grayscale; largest gap from source domain)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02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How: Overall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4583" y="2103120"/>
            <a:ext cx="2011680" cy="1371600"/>
          </a:xfrm>
          <a:prstGeom prst="roundRect">
            <a:avLst/>
          </a:prstGeom>
          <a:solidFill>
            <a:srgbClr val="1B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 Images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5-way 5-shot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Support / 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4551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2295" y="2103120"/>
            <a:ext cx="2011680" cy="1371600"/>
          </a:xfrm>
          <a:prstGeom prst="roundRect">
            <a:avLst/>
          </a:prstGeom>
          <a:solidFill>
            <a:srgbClr val="0E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CLIP ViT-B/16
+ LoRA (r=4)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LoRA injected only into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visual tower; text tower frozen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52263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90007" y="2103120"/>
            <a:ext cx="2011680" cy="1371600"/>
          </a:xfrm>
          <a:prstGeom prst="round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Feature-SR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14×14 → 28×28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Patch Token Upsampling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9975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57719" y="2103120"/>
            <a:ext cx="2011680" cy="1371600"/>
          </a:xfrm>
          <a:prstGeom prst="round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Text-side Prompt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Domain multi-template ensemble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+ class-name semantic expansion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87687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25431" y="2103120"/>
            <a:ext cx="2011680" cy="1371600"/>
          </a:xfrm>
          <a:prstGeom prst="roundRect">
            <a:avLst/>
          </a:prstGeom>
          <a:solidFill>
            <a:srgbClr val="1B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Cycle-Consistency Loss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T-I-T / I-T-I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rial"/>
              </a:rPr>
              <a:t>+ Cross-Resolution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23B33"/>
                </a:solidFill>
                <a:latin typeface="Arial"/>
              </a:rPr>
              <a:t>Key: LoRA lives only on the visual tower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0B2E4A"/>
                </a:solidFill>
                <a:latin typeface="Arial"/>
              </a:rPr>
              <a:t>●  The text tower is fully frozen → the visual-side LoRA is calibrated to whichever text distribution was used at training time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0B2E4A"/>
                </a:solidFill>
                <a:latin typeface="Arial"/>
              </a:rPr>
              <a:t>●  Training and inference must use the same prompt, or the calibrated alignment breaks (see the diagnosis on the next slide)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0B2E4A"/>
                </a:solidFill>
                <a:latin typeface="Arial"/>
              </a:rPr>
              <a:t>●  Feature-SR and Prompt Ensemble act on the visual side and text side respectively — orthogonal in theory, and stackable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02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How: Three-Phase Experiment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566160" cy="3566160"/>
          </a:xfrm>
          <a:prstGeom prst="rect">
            <a:avLst/>
          </a:prstGeom>
          <a:solidFill>
            <a:srgbClr val="F3F7F9"/>
          </a:solidFill>
          <a:ln w="9525">
            <a:solidFill>
              <a:srgbClr val="C7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566160" cy="91440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C1652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2026.08.26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E4A"/>
                </a:solidFill>
                <a:latin typeface="Arial"/>
              </a:rPr>
              <a:t>Feature-SR Standalone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Validate the accuracy gain from 14×14→28×28 upsampling alone, across 4 datasets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566160" cy="3566160"/>
          </a:xfrm>
          <a:prstGeom prst="rect">
            <a:avLst/>
          </a:prstGeom>
          <a:solidFill>
            <a:srgbClr val="F3F7F9"/>
          </a:solidFill>
          <a:ln w="9525">
            <a:solidFill>
              <a:srgbClr val="C7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566160" cy="91440"/>
          </a:xfrm>
          <a:prstGeom prst="rect">
            <a:avLst/>
          </a:prstGeom>
          <a:solidFill>
            <a:srgbClr val="A2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A23B33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2026.08.29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E4A"/>
                </a:solidFill>
                <a:latin typeface="Arial"/>
              </a:rPr>
              <a:t>Prompt Ensemble Diagnosis &amp;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0332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Found a train/inference distribution mismatch causing collapse; traced the root cause and fixed a bug in train.py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737360"/>
            <a:ext cx="3566160" cy="3566160"/>
          </a:xfrm>
          <a:prstGeom prst="rect">
            <a:avLst/>
          </a:prstGeom>
          <a:solidFill>
            <a:srgbClr val="F3F7F9"/>
          </a:solidFill>
          <a:ln w="9525">
            <a:solidFill>
              <a:srgbClr val="C7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37360"/>
            <a:ext cx="3566160" cy="91440"/>
          </a:xfrm>
          <a:prstGeom prst="rect">
            <a:avLst/>
          </a:prstGeom>
          <a:solidFill>
            <a:srgbClr val="0E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8A66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2026.08.31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E4A"/>
                </a:solidFill>
                <a:latin typeface="Arial"/>
              </a:rPr>
              <a:t>Combined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Enabled both modules together to test whether the two gains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321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Shared protocol: Strict 5-way 5-shot, 100 epochs, lr=3e-5 + 5-epoch warmup, final evaluation over 400 episodes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C7D0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03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Dispatch 01 — Feature-SR Standalone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557783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323"/>
                <a:gridCol w="1297172"/>
                <a:gridCol w="1297172"/>
                <a:gridCol w="1297172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(14×14)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Feature-SR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(28×28)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EuroSAT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88.79%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90.16%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+1.37%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CropDiseases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89.68%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90.61%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+0.93%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ISIC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41.44%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43.20%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+1.76%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ChestX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22.43%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22.46%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+0.03%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60.59%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61.61%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1652F"/>
                          </a:solidFill>
                          <a:latin typeface="Arial"/>
                        </a:rPr>
                        <a:t>+1.02%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737360"/>
          <a:ext cx="5394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06908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Takeaway: positive on 4/4 datasets, no collapse.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Feature-SR reconstructs no pixels at all — it purely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increases spatial granularity in CLIP's patch-token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feature space. Super-resolution for the machine,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not the eye.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C7D0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03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Dispatch 02 — Prompt Ensemble: Collapse &amp;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1183112" cy="960120"/>
          </a:xfrm>
          <a:prstGeom prst="rect">
            <a:avLst/>
          </a:prstGeom>
          <a:solidFill>
            <a:srgbClr val="F7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23B33"/>
                </a:solidFill>
                <a:latin typeface="Arial"/>
              </a:rPr>
              <a:t>Root-Cause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2E4A"/>
                </a:solidFill>
                <a:latin typeface="Arial"/>
              </a:rPr>
              <a:t>LoRA lives only on the visual tower; the text tower is frozen — so the visual side is calibrated to the text distribution used at training time. Training used a single template while inference switched to a multi-template ensemble; the mismatch broke the calibrated alignment.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834640"/>
          <a:ext cx="640079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404"/>
                <a:gridCol w="1405053"/>
                <a:gridCol w="1561170"/>
                <a:gridCol w="156117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Post-hoc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(mismatched)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Ensemble-aware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(fixed)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EuroSAT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90.17%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84.15%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(−6.03%)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93.81%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(+3.64%)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CropDiseases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90.03%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85.04%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(−4.99%)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90.57%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(+0.54%)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ISIC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43.76%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25.15%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(−18.61%)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44.49%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(+0.73%)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ChestX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22.88%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21.28%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(−1.60%)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22.79%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(−0.09%)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61.71%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23B33"/>
                          </a:solidFill>
                          <a:latin typeface="Arial"/>
                        </a:rPr>
                        <a:t>53.90%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A23B33"/>
                          </a:solidFill>
                          <a:latin typeface="Arial"/>
                        </a:rPr>
                        <a:t>(−7.81%)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8A66"/>
                          </a:solidFill>
                          <a:latin typeface="Arial"/>
                        </a:rPr>
                        <a:t>62.92%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0E8A66"/>
                          </a:solidFill>
                          <a:latin typeface="Arial"/>
                        </a:rPr>
                        <a:t>(+1.21%)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086600" y="2788920"/>
          <a:ext cx="46177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C7D0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03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Dispatch 03 — Feature-SR + Ensemble Combined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5943596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110342"/>
                <a:gridCol w="1110342"/>
                <a:gridCol w="1240971"/>
                <a:gridCol w="914399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Ensemble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-only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FSR +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Ensemble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Epoch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EuroSAT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90.17%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93.81%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94.54%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CropDiseases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90.03%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90.57%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90.97%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ISIC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43.76%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44.49%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44.77%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ChestX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22.88%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22.79%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22.96%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61.71%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62.92%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1652F"/>
                          </a:solidFill>
                          <a:latin typeface="Arial"/>
                        </a:rPr>
                        <a:t>63.31%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29400" y="1737360"/>
          <a:ext cx="50749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251960"/>
            <a:ext cx="5943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All 4/4 datasets show Baseline &lt; Ensemble-only &lt;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FSR+Ensemble — a consistent, monotonic stack,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confirming the two gain sources are orthogonal.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Bonus finding: adding Feature-SR noticeably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stabilized ISIC training (no more post-epoch-10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overfitting collapse), suggesting the Cross-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Resolution Loss adds a regularizing effect.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04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Known Limitation: ChestX's Backbone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ChestX shows the smallest gain of all four datasets at every phase (only +0.08% here)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Cross-checked against the paper's own Table 9 (SOTA comparison):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The best method on ChestX, IM-DCL (28.93%), uses a ResNet backbone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Every ViT/CLIP-based method — including this paper's own CC-CDFSL (25.47%) — loses to it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Conclusion: this is a backbone-architecture ceiling, not a failure of either enhancement module (Feature-SR / Prompt Ensemble) in this project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Recommendation: not worth spending more compute chasing ChestX gains here, unless opening a separate "change the backbone" research direction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83080"/>
          <a:ext cx="528523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349"/>
                <a:gridCol w="1428441"/>
                <a:gridCol w="1428441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Backbone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ChestX (5-shot)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IM-DCL (TIP-24)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ResNet10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28.93%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DAMIM-FT (AAAI-25)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ViT/DINO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27.82%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AttnTemp (NeurIPS-24)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ViT/DINO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27.72%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CLIP-LoRA + CC-CDFSL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ViT/CLIP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25.47%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CLIP-LoRA (baseline)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ViT/CLIP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24.44%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5257800"/>
            <a:ext cx="52852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Source: CC-CDFSL paper, Appendix Table 9 (comparison with SOTA CDFSL methods)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05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B2E4A"/>
                </a:solidFill>
                <a:latin typeface="Arial"/>
              </a:rPr>
              <a:t>Cumulative Gain Across Three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60350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1676400"/>
                <a:gridCol w="167640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Average Accuracy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vs. Baseline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61.71%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+ Feature-SR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61.61% †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+1.02%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+ Ensemble-aware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62.92%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+1.21%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+ Feature-SR + Ensemble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63.31%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1652F"/>
                          </a:solidFill>
                          <a:latin typeface="Arial"/>
                        </a:rPr>
                        <a:t>+1.60%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6908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† From a separate training run (baseline 60.59%); the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other three rows share a different run (baseline 61.71%),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so seed/run-to-run variance applies — compare relative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gains (Δ), not absolute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783080"/>
            <a:ext cx="4828032" cy="27432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9659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1652F"/>
                </a:solidFill>
                <a:latin typeface="Arial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37744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Feature-SR and Prompt Ensemble are two
independent, stackable gain sources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Combined use yields +1.60% on average,
up to +4.37% on EuroSAT alone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Train/inference prompt consistency is a hard
requirement for using Prompt Ensemble at 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B2E4A"/>
                </a:solidFill>
                <a:latin typeface="Arial"/>
              </a:rPr>
              <a:t>Next steps: validate the stacked effect under the 1-shot setting, document ChestX's backbone limitation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B2E4A"/>
                </a:solidFill>
                <a:latin typeface="Arial"/>
              </a:rPr>
              <a:t>in the paper's limitations section, and consolidate the three reports as related-work / ablation material.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Research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