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相對 Baseline 的增益 (Δ%)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Feature-SR 增益 (Δ%)</c:v>
                </c:pt>
              </c:strCache>
            </c:strRef>
          </c:tx>
          <c:spPr>
            <a:solidFill>
              <a:srgbClr val="C1652F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平均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1.37</c:v>
                </c:pt>
                <c:pt idx="1">
                  <c:v>0.93</c:v>
                </c:pt>
                <c:pt idx="2">
                  <c:v>1.76</c:v>
                </c:pt>
                <c:pt idx="3">
                  <c:v>0.03</c:v>
                </c:pt>
                <c:pt idx="4">
                  <c:v>1.02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C7D9E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相對 Baseline 的變化 (Δ%)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Post-hoc (不一致)</c:v>
                </c:pt>
              </c:strCache>
            </c:strRef>
          </c:tx>
          <c:spPr>
            <a:solidFill>
              <a:srgbClr val="A23B33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平均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-6.03</c:v>
                </c:pt>
                <c:pt idx="1">
                  <c:v>-4.99</c:v>
                </c:pt>
                <c:pt idx="2">
                  <c:v>-18.61</c:v>
                </c:pt>
                <c:pt idx="3">
                  <c:v>-1.6</c:v>
                </c:pt>
                <c:pt idx="4">
                  <c:v>-7.81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Ensemble-aware (已修復)</c:v>
                </c:pt>
              </c:strCache>
            </c:strRef>
          </c:tx>
          <c:spPr>
            <a:solidFill>
              <a:srgbClr val="0E8A66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平均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3.64</c:v>
                </c:pt>
                <c:pt idx="1">
                  <c:v>0.54</c:v>
                </c:pt>
                <c:pt idx="2">
                  <c:v>0.73</c:v>
                </c:pt>
                <c:pt idx="3">
                  <c:v>-0.09</c:v>
                </c:pt>
                <c:pt idx="4">
                  <c:v>1.21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C7D9E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相對 Baseline 的總增益 (Δ%)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Ensemble-only</c:v>
                </c:pt>
              </c:strCache>
            </c:strRef>
          </c:tx>
          <c:spPr>
            <a:solidFill>
              <a:srgbClr val="0E8A66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平均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3.64</c:v>
                </c:pt>
                <c:pt idx="1">
                  <c:v>0.54</c:v>
                </c:pt>
                <c:pt idx="2">
                  <c:v>0.73</c:v>
                </c:pt>
                <c:pt idx="3">
                  <c:v>-0.09</c:v>
                </c:pt>
                <c:pt idx="4">
                  <c:v>1.21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Feature-SR</c:v>
                </c:pt>
              </c:strCache>
            </c:strRef>
          </c:tx>
          <c:spPr>
            <a:solidFill>
              <a:srgbClr val="C1652F"/>
            </a:solidFill>
            <a:ln>
              <a:noFill/>
            </a:ln>
          </c:spPr>
          <c:dLbls>
            <c:numFmt formatCode="+0.00&quot;%&quot;" sourceLinked="0"/>
            <c:txPr>
              <a:bodyPr/>
              <a:lstStyle/>
              <a:p>
                <a:pPr>
                  <a:defRPr sz="1000">
                    <a:solidFill>
                      <a:srgbClr val="0B2E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EuroSAT</c:v>
                </c:pt>
                <c:pt idx="1">
                  <c:v>CropDiseases</c:v>
                </c:pt>
                <c:pt idx="2">
                  <c:v>ISIC 2018</c:v>
                </c:pt>
                <c:pt idx="3">
                  <c:v>ChestX</c:v>
                </c:pt>
                <c:pt idx="4">
                  <c:v>平均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4.37</c:v>
                </c:pt>
                <c:pt idx="1">
                  <c:v>0.94</c:v>
                </c:pt>
                <c:pt idx="2">
                  <c:v>1.01</c:v>
                </c:pt>
                <c:pt idx="3">
                  <c:v>0.08</c:v>
                </c:pt>
                <c:pt idx="4">
                  <c:v>1.6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C7D9E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18288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08A4D"/>
                </a:solidFill>
                <a:latin typeface="Arial"/>
              </a:rPr>
              <a:t>CC-CDFSL 研究進度報告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Feature-SR × Prompt Ensemble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跨域少樣本學習的疊加增益驗證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3BBCB"/>
                </a:solidFill>
                <a:latin typeface="Arial"/>
              </a:rPr>
              <a:t>特徵層級超解析度與文字端 Prompt 集成：從各自驗證、一次訓練/測試分布錯誤的診斷修復，到兩者疊加的完整結果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8A9C"/>
                </a:solidFill>
                <a:latin typeface="Arial"/>
              </a:rPr>
              <a:t>CLIP ViT-B/16 · LoRA · Strict 5-way 5-shot · EuroSAT / CropDiseases / ISIC2018 / ChestX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1722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E8A9C"/>
                </a:solidFill>
                <a:latin typeface="Arial"/>
              </a:rPr>
              <a:t>2026.08.26 – 08.31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我們在做什麼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研究主題：跨域少樣本學習（Cross-Domain Few-Shot Learning, CDFSL）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在來源域（miniImageNet）訓練，遷移到 4 個視覺差異極大的目標域，僅用每類 5 張圖做分類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基礎框架：CC-CDFSL（CVPR 2026），用循環一致性做視覺-語言細粒度對齊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T-I-T（文字→圖像→文字）與 I-T-I（圖像→文字→圖像）兩條循環路徑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本專案的核心貢獻：Feature-SR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把 CLIP ViT 輸出的 14×14 patch token 升採樣到 28×28，加密空間顆粒度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這是「給機器看」的超解析度，不追求人眼視覺品質，純粹服務下游分類任務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本階段任務：驗證 Feature-SR 能否與另一個增強手法（Prompt Ensemble）疊加使用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285232" cy="43434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四個目標域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EuroSAT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24327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衛星遙感影像 · 10 類地貌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CropDiseases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538727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農作物葉片病害 · 38 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ISIC 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531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皮膚鏡病灶影像 · 7 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074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E4A"/>
                </a:solidFill>
                <a:latin typeface="Arial"/>
              </a:rPr>
              <a:t>ChestX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6752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胸部 X 光片 · 7 類（灰階、與來源域差異最大）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02 ·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怎麼做：整體架構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4583" y="2103120"/>
            <a:ext cx="2011680" cy="1371600"/>
          </a:xfrm>
          <a:prstGeom prst="roundRect">
            <a:avLst/>
          </a:prstGeom>
          <a:solidFill>
            <a:srgbClr val="1B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輸入影像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5-way 5-shot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Support / 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4551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22295" y="2103120"/>
            <a:ext cx="2011680" cy="1371600"/>
          </a:xfrm>
          <a:prstGeom prst="roundRect">
            <a:avLst/>
          </a:prstGeom>
          <a:solidFill>
            <a:srgbClr val="0E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CLIP ViT-B/16
+ LoRA (r=4)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只對視覺塔注入 LoRA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文字塔完全凍結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52263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90007" y="2103120"/>
            <a:ext cx="2011680" cy="1371600"/>
          </a:xfrm>
          <a:prstGeom prst="round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Feature-SR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14×14 → 28×28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Patch Token 升採樣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9975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57719" y="2103120"/>
            <a:ext cx="2011680" cy="1371600"/>
          </a:xfrm>
          <a:prstGeom prst="round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文字端 Prompt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領域多模板集成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+ 類別語意展開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87687" y="2706624"/>
            <a:ext cx="219456" cy="164592"/>
          </a:xfrm>
          <a:prstGeom prst="rightArrow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25431" y="2103120"/>
            <a:ext cx="2011680" cy="1371600"/>
          </a:xfrm>
          <a:prstGeom prst="roundRect">
            <a:avLst/>
          </a:prstGeom>
          <a:solidFill>
            <a:srgbClr val="1B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循環一致性損失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T-I-T / I-T-I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+ Cross-Resolution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23B33"/>
                </a:solidFill>
                <a:latin typeface="Arial"/>
              </a:rPr>
              <a:t>關鍵：LoRA 只掛在視覺塔上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0B2E4A"/>
                </a:solidFill>
                <a:latin typeface="Arial"/>
              </a:rPr>
              <a:t>●  文字塔完全凍結 → 視覺端 LoRA 是針對「訓練時所用的文字分布」去校準對齊的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0B2E4A"/>
                </a:solidFill>
                <a:latin typeface="Arial"/>
              </a:rPr>
              <a:t>●  訓練/推論所用的 Prompt 必須一致，否則已校準的對齊關係會被打亂（詳見下一頁的診斷）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0B2E4A"/>
                </a:solidFill>
                <a:latin typeface="Arial"/>
              </a:rPr>
              <a:t>●  Feature-SR 與 Prompt Ensemble 分別作用在視覺端／文字端，理論上正交、可疊加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02 ·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怎麼做：三階段實驗設計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566160" cy="3566160"/>
          </a:xfrm>
          <a:prstGeom prst="rect">
            <a:avLst/>
          </a:prstGeom>
          <a:solidFill>
            <a:srgbClr val="F3F7F9"/>
          </a:solidFill>
          <a:ln w="9525">
            <a:solidFill>
              <a:srgbClr val="C7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566160" cy="91440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C1652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2026.08.26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2E4A"/>
                </a:solidFill>
                <a:latin typeface="Arial"/>
              </a:rPr>
              <a:t>Feature-SR 基礎驗證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5607A"/>
                </a:solidFill>
                <a:latin typeface="Arial"/>
              </a:rPr>
              <a:t>單獨驗證 14×14→28×28 升採樣對 4 個資料集的增益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566160" cy="3566160"/>
          </a:xfrm>
          <a:prstGeom prst="rect">
            <a:avLst/>
          </a:prstGeom>
          <a:solidFill>
            <a:srgbClr val="F3F7F9"/>
          </a:solidFill>
          <a:ln w="9525">
            <a:solidFill>
              <a:srgbClr val="C7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566160" cy="91440"/>
          </a:xfrm>
          <a:prstGeom prst="rect">
            <a:avLst/>
          </a:prstGeom>
          <a:solidFill>
            <a:srgbClr val="A2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A23B33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2026.08.29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2E4A"/>
                </a:solidFill>
                <a:latin typeface="Arial"/>
              </a:rPr>
              <a:t>Prompt Ensemble 診斷與修復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0332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5607A"/>
                </a:solidFill>
                <a:latin typeface="Arial"/>
              </a:rPr>
              <a:t>發現訓練/測試分布不一致造成崩潰，定位根因並修復 train.py bug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737360"/>
            <a:ext cx="3566160" cy="3566160"/>
          </a:xfrm>
          <a:prstGeom prst="rect">
            <a:avLst/>
          </a:prstGeom>
          <a:solidFill>
            <a:srgbClr val="F3F7F9"/>
          </a:solidFill>
          <a:ln w="9525">
            <a:solidFill>
              <a:srgbClr val="C7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37360"/>
            <a:ext cx="3566160" cy="91440"/>
          </a:xfrm>
          <a:prstGeom prst="rect">
            <a:avLst/>
          </a:prstGeom>
          <a:solidFill>
            <a:srgbClr val="0E8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E8A66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5607A"/>
                </a:solidFill>
                <a:latin typeface="Arial"/>
              </a:rPr>
              <a:t>2026.08.31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2E4A"/>
                </a:solidFill>
                <a:latin typeface="Arial"/>
              </a:rPr>
              <a:t>疊加驗證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5607A"/>
                </a:solidFill>
                <a:latin typeface="Arial"/>
              </a:rPr>
              <a:t>同時開啟兩個模組，驗證增益是否可疊加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321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共同協定：Strict 5-way 5-shot、100 epochs、lr=3e-5 + warmup 5 epochs、400 episodes 最終評估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C7D0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03 · 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Dispatch 01 — Feature-SR 單獨驗證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557783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323"/>
                <a:gridCol w="1297172"/>
                <a:gridCol w="1297172"/>
                <a:gridCol w="1297172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資料集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(14×14)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Feature-SR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(28×28)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EuroSAT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88.79%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90.16%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+1.37%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CropDiseases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89.68%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90.61%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+0.93%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ISIC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41.44%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43.20%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+1.76%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ChestX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22.43%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22.46%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+0.03%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平均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60.59%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61.61%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1652F"/>
                          </a:solidFill>
                          <a:latin typeface="Arial"/>
                        </a:rPr>
                        <a:t>+1.02%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737360"/>
          <a:ext cx="5394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06908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重點：4/4 資料集全數正向，無一崩潰。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Feature-SR 不還原任何像素，純粹在 CLIP 的 patch token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45607A"/>
                </a:solidFill>
                <a:latin typeface="Arial"/>
              </a:rPr>
              <a:t>特徵空間裡加密空間顆粒度——是給機器看的超解析度。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C7D0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03 · 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Dispatch 02 — Prompt Ensemble：崩潰與根因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1183112" cy="914400"/>
          </a:xfrm>
          <a:prstGeom prst="rect">
            <a:avLst/>
          </a:prstGeom>
          <a:solidFill>
            <a:srgbClr val="F7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23B33"/>
                </a:solidFill>
                <a:latin typeface="Arial"/>
              </a:rPr>
              <a:t>根因診斷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B2E4A"/>
                </a:solidFill>
                <a:latin typeface="Arial"/>
              </a:rPr>
              <a:t>LoRA 只掛在視覺塔、文字塔凍結 → 視覺端是針對「訓練時的文字分布」校準的。訓練用單一模板、推論才換成多模板 Ensemble，分布不一致打亂已校準的對齊關係。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788920"/>
          <a:ext cx="640079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404"/>
                <a:gridCol w="1405053"/>
                <a:gridCol w="1561170"/>
                <a:gridCol w="156117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資料集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Post-hoc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(不一致)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Ensemble-aware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(已修復)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EuroSAT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90.17%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84.15%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(−6.03%)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93.81%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(+3.64%)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CropDiseases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90.03%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85.04%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(−4.99%)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90.57%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(+0.54%)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ISIC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43.76%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25.15%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(−18.61%)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44.49%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(+0.73%)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ChestX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22.88%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21.28%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(−1.60%)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22.79%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A23B33"/>
                          </a:solidFill>
                          <a:latin typeface="Arial"/>
                        </a:rPr>
                        <a:t>(−0.09%)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平均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61.71%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23B33"/>
                          </a:solidFill>
                          <a:latin typeface="Arial"/>
                        </a:rPr>
                        <a:t>53.90%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A23B33"/>
                          </a:solidFill>
                          <a:latin typeface="Arial"/>
                        </a:rPr>
                        <a:t>(−7.81%)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8A66"/>
                          </a:solidFill>
                          <a:latin typeface="Arial"/>
                        </a:rPr>
                        <a:t>62.92%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0E8A66"/>
                          </a:solidFill>
                          <a:latin typeface="Arial"/>
                        </a:rPr>
                        <a:t>(+1.21%)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086600" y="2743200"/>
          <a:ext cx="46177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C7D0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03 · 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Dispatch 03 — Feature-SR + Ensemble 疊加驗證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5943596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110342"/>
                <a:gridCol w="1110342"/>
                <a:gridCol w="1240971"/>
                <a:gridCol w="914399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資料集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Ensemble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-only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FSR +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Ensemble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Epoch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EuroSAT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90.17%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93.81%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94.54%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CropDiseases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90.03%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90.57%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90.97%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ISIC 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43.76%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44.49%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44.77%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ChestX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22.88%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22.79%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22.96%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平均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61.71%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62.92%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1652F"/>
                          </a:solidFill>
                          <a:latin typeface="Arial"/>
                        </a:rPr>
                        <a:t>63.31%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29400" y="1737360"/>
          <a:ext cx="50749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251960"/>
            <a:ext cx="5943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4/4 資料集皆呈現 Baseline &lt; Ensemble-only &lt; FSR+Ensemble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的一致遞增，兩個增益來源確認正交可疊加。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意外收穫：疊加後 ISIC 訓練穩定性明顯改善（不再於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epoch 10 後過擬合崩潰），推測 Feature-SR 的 Cross-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5607A"/>
                </a:solidFill>
                <a:latin typeface="Arial"/>
              </a:rPr>
              <a:t>Resolution Loss 有額外正則化效果。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04 · 討論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已知限制：ChestX 的 Backbone 天花板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ChestX 三個階段的增益都是四者中最小（本次僅 +0.08%）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查證論文附錄 Table 9（SOTA 對比）後確認：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ChestX 表現最好的方法 IM-DCL（28.93%）用 ResNet backbone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45607A"/>
                </a:solidFill>
                <a:latin typeface="Arial"/>
              </a:rPr>
              <a:t>–  包括本論文的 CC-CDFSL（25.47%）在內，所有 ViT/CLIP 系
方法都輸給它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結論：這是 backbone 架構層級的天花板，不是本次兩個
增強模組（Feature-SR / Prompt Ensemble）失效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0B2E4A"/>
                </a:solidFill>
                <a:latin typeface="Arial"/>
              </a:rPr>
              <a:t>●  建議：不建議繼續加碼算力嘗試在 ChestX 上突破，除非
另開一個「換 backbone」的研究方向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83080"/>
          <a:ext cx="528523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349"/>
                <a:gridCol w="1428441"/>
                <a:gridCol w="1428441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方法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Backbone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ChestX (5-shot)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IM-DCL (TIP-24)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ResNet10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28.93%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DAMIM-FT (AAAI-25)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ViT/DINO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27.82%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AttnTemp (NeurIPS-24)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ViT/DINO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27.72%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CLIP-LoRA + CC-CDFSL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ViT/CLIP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25.47%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CLIP-LoRA (baseline)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ViT/CLIP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24.44%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5257800"/>
            <a:ext cx="52852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資料來源：CC-CDFSL 論文附錄 Table 9（SOTA CDFSL 方法對比）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16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652F"/>
                </a:solidFill>
                <a:latin typeface="Arial"/>
              </a:rPr>
              <a:t>05 · 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2E4A"/>
                </a:solidFill>
                <a:latin typeface="Arial"/>
              </a:rPr>
              <a:t>三階段累積增益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C7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60350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1676400"/>
                <a:gridCol w="167640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階段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平均準確率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相對 Baseline</a:t>
                      </a:r>
                    </a:p>
                  </a:txBody>
                  <a:tcPr marL="73152" marR="73152" marT="27432" marB="27432" anchor="ctr">
                    <a:solidFill>
                      <a:srgbClr val="0B2E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61.71%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+ Feature-SR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61.61% †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1652F"/>
                          </a:solidFill>
                          <a:latin typeface="Arial"/>
                        </a:rPr>
                        <a:t>+1.02%</a:t>
                      </a:r>
                    </a:p>
                  </a:txBody>
                  <a:tcPr marL="73152" marR="73152" marT="27432" marB="27432" anchor="ctr">
                    <a:solidFill>
                      <a:srgbClr val="F3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+ Ensemble-aware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E4A"/>
                          </a:solidFill>
                          <a:latin typeface="Arial"/>
                        </a:rPr>
                        <a:t>62.92%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E8A66"/>
                          </a:solidFill>
                          <a:latin typeface="Arial"/>
                        </a:rPr>
                        <a:t>+1.21%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+ Feature-SR + Ensemble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2E4A"/>
                          </a:solidFill>
                          <a:latin typeface="Arial"/>
                        </a:rPr>
                        <a:t>63.31%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1652F"/>
                          </a:solidFill>
                          <a:latin typeface="Arial"/>
                        </a:rPr>
                        <a:t>+1.60%</a:t>
                      </a:r>
                    </a:p>
                  </a:txBody>
                  <a:tcPr marL="73152" marR="73152" marT="27432" marB="27432" anchor="ctr">
                    <a:solidFill>
                      <a:srgbClr val="EC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69080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† 取自獨立訓練批次（baseline 60.59%），與其餘三列的批次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5607A"/>
                </a:solidFill>
                <a:latin typeface="Arial"/>
              </a:rPr>
              <a:t>（baseline 61.71%）存在隨機種子誤差，宜比較相對增益 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783080"/>
            <a:ext cx="4828032" cy="27432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9659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1652F"/>
                </a:solidFill>
                <a:latin typeface="Arial"/>
              </a:rPr>
              <a:t>核心結論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37744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Feature-SR 與 Prompt Ensemble 是兩個獨立、
可疊加的增益來源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疊加使用平均 +1.60%，EuroSAT 單一資料集
達 +4.37%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0B2E4A"/>
                </a:solidFill>
                <a:latin typeface="Arial"/>
              </a:rPr>
              <a:t>●  訓練/測試分布一致性是使用 Prompt Ensemble
的必要前提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B2E4A"/>
                </a:solidFill>
                <a:latin typeface="Arial"/>
              </a:rPr>
              <a:t>下一步建議：驗證 1-shot 設定下的疊加效果、將 ChestX 的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B2E4A"/>
                </a:solidFill>
                <a:latin typeface="Arial"/>
              </a:rPr>
              <a:t>backbone 限制寫入論文 limitation 段落、整理三份報告作為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0B2E4A"/>
                </a:solidFill>
                <a:latin typeface="Arial"/>
              </a:rPr>
              <a:t>related-work / ablation 素材。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607A"/>
                </a:solidFill>
                <a:latin typeface="Arial"/>
              </a:rPr>
              <a:t>CC-CDFSL + FeatureSR 研究進度報告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